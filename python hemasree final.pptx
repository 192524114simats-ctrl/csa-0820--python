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741F61-29FC-455D-B215-D4C1638AB661}" v="18" dt="2026-06-24T09:55:13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sree dev" userId="b7e98dbdfb90c427" providerId="LiveId" clId="{07802E01-ACD5-4975-B7E4-4557735E1881}"/>
    <pc:docChg chg="undo custSel modSld">
      <pc:chgData name="hemasree dev" userId="b7e98dbdfb90c427" providerId="LiveId" clId="{07802E01-ACD5-4975-B7E4-4557735E1881}" dt="2026-06-24T09:55:53.891" v="205" actId="1076"/>
      <pc:docMkLst>
        <pc:docMk/>
      </pc:docMkLst>
      <pc:sldChg chg="modSp mod">
        <pc:chgData name="hemasree dev" userId="b7e98dbdfb90c427" providerId="LiveId" clId="{07802E01-ACD5-4975-B7E4-4557735E1881}" dt="2026-06-24T09:23:28.181" v="22" actId="1036"/>
        <pc:sldMkLst>
          <pc:docMk/>
          <pc:sldMk cId="0" sldId="261"/>
        </pc:sldMkLst>
        <pc:spChg chg="mod">
          <ac:chgData name="hemasree dev" userId="b7e98dbdfb90c427" providerId="LiveId" clId="{07802E01-ACD5-4975-B7E4-4557735E1881}" dt="2026-06-24T09:21:30.052" v="4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21:54.987" v="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22:22.877" v="8" actId="20577"/>
          <ac:spMkLst>
            <pc:docMk/>
            <pc:sldMk cId="0" sldId="261"/>
            <ac:spMk id="21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22:47.053" v="13" actId="20577"/>
          <ac:spMkLst>
            <pc:docMk/>
            <pc:sldMk cId="0" sldId="261"/>
            <ac:spMk id="26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23:28.181" v="22" actId="1036"/>
          <ac:spMkLst>
            <pc:docMk/>
            <pc:sldMk cId="0" sldId="261"/>
            <ac:spMk id="27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23:23.401" v="20" actId="20577"/>
          <ac:spMkLst>
            <pc:docMk/>
            <pc:sldMk cId="0" sldId="261"/>
            <ac:spMk id="31" creationId="{00000000-0000-0000-0000-000000000000}"/>
          </ac:spMkLst>
        </pc:spChg>
      </pc:sldChg>
      <pc:sldChg chg="modSp mod">
        <pc:chgData name="hemasree dev" userId="b7e98dbdfb90c427" providerId="LiveId" clId="{07802E01-ACD5-4975-B7E4-4557735E1881}" dt="2026-06-24T09:36:53.570" v="45" actId="1076"/>
        <pc:sldMkLst>
          <pc:docMk/>
          <pc:sldMk cId="0" sldId="264"/>
        </pc:sldMkLst>
        <pc:spChg chg="mod">
          <ac:chgData name="hemasree dev" userId="b7e98dbdfb90c427" providerId="LiveId" clId="{07802E01-ACD5-4975-B7E4-4557735E1881}" dt="2026-06-24T09:35:50.256" v="39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34:00.135" v="27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35:43.302" v="38" actId="255"/>
          <ac:spMkLst>
            <pc:docMk/>
            <pc:sldMk cId="0" sldId="264"/>
            <ac:spMk id="6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34:48.392" v="33" actId="14100"/>
          <ac:spMkLst>
            <pc:docMk/>
            <pc:sldMk cId="0" sldId="264"/>
            <ac:spMk id="7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35:59.270" v="40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35:35.790" v="37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36:08.045" v="41" actId="14100"/>
          <ac:spMkLst>
            <pc:docMk/>
            <pc:sldMk cId="0" sldId="264"/>
            <ac:spMk id="10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36:12.692" v="42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36:53.570" v="45" actId="1076"/>
          <ac:spMkLst>
            <pc:docMk/>
            <pc:sldMk cId="0" sldId="264"/>
            <ac:spMk id="12" creationId="{00000000-0000-0000-0000-000000000000}"/>
          </ac:spMkLst>
        </pc:spChg>
      </pc:sldChg>
      <pc:sldChg chg="addSp delSp modSp mod">
        <pc:chgData name="hemasree dev" userId="b7e98dbdfb90c427" providerId="LiveId" clId="{07802E01-ACD5-4975-B7E4-4557735E1881}" dt="2026-06-24T09:55:53.891" v="205" actId="1076"/>
        <pc:sldMkLst>
          <pc:docMk/>
          <pc:sldMk cId="0" sldId="266"/>
        </pc:sldMkLst>
        <pc:spChg chg="del mod">
          <ac:chgData name="hemasree dev" userId="b7e98dbdfb90c427" providerId="LiveId" clId="{07802E01-ACD5-4975-B7E4-4557735E1881}" dt="2026-06-24T09:50:29.029" v="156" actId="478"/>
          <ac:spMkLst>
            <pc:docMk/>
            <pc:sldMk cId="0" sldId="266"/>
            <ac:spMk id="4" creationId="{00000000-0000-0000-0000-000000000000}"/>
          </ac:spMkLst>
        </pc:spChg>
        <pc:spChg chg="del mod">
          <ac:chgData name="hemasree dev" userId="b7e98dbdfb90c427" providerId="LiveId" clId="{07802E01-ACD5-4975-B7E4-4557735E1881}" dt="2026-06-24T09:50:57.674" v="162" actId="478"/>
          <ac:spMkLst>
            <pc:docMk/>
            <pc:sldMk cId="0" sldId="266"/>
            <ac:spMk id="5" creationId="{00000000-0000-0000-0000-000000000000}"/>
          </ac:spMkLst>
        </pc:spChg>
        <pc:spChg chg="del mod">
          <ac:chgData name="hemasree dev" userId="b7e98dbdfb90c427" providerId="LiveId" clId="{07802E01-ACD5-4975-B7E4-4557735E1881}" dt="2026-06-24T09:50:37.299" v="157" actId="478"/>
          <ac:spMkLst>
            <pc:docMk/>
            <pc:sldMk cId="0" sldId="266"/>
            <ac:spMk id="6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53:57.925" v="192" actId="14100"/>
          <ac:spMkLst>
            <pc:docMk/>
            <pc:sldMk cId="0" sldId="266"/>
            <ac:spMk id="7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55:53.891" v="205" actId="1076"/>
          <ac:spMkLst>
            <pc:docMk/>
            <pc:sldMk cId="0" sldId="266"/>
            <ac:spMk id="8" creationId="{00000000-0000-0000-0000-000000000000}"/>
          </ac:spMkLst>
        </pc:spChg>
        <pc:spChg chg="del mod">
          <ac:chgData name="hemasree dev" userId="b7e98dbdfb90c427" providerId="LiveId" clId="{07802E01-ACD5-4975-B7E4-4557735E1881}" dt="2026-06-24T09:46:43.384" v="118" actId="478"/>
          <ac:spMkLst>
            <pc:docMk/>
            <pc:sldMk cId="0" sldId="266"/>
            <ac:spMk id="9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53:35.204" v="188" actId="1410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41:05.910" v="62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41:11.403" v="63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41:16.877" v="64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41:36.802" v="66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42:02.356" v="71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42:23.868" v="74" actId="107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42:56.751" v="78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43:03.810" v="79" actId="107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43:11.900" v="80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43:19.133" v="81" actId="107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43:28.667" v="82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43:40.898" v="84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43:46.913" v="85" actId="107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44:00.585" v="88" actId="1076"/>
          <ac:spMkLst>
            <pc:docMk/>
            <pc:sldMk cId="0" sldId="266"/>
            <ac:spMk id="24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44:09.651" v="89" actId="1076"/>
          <ac:spMkLst>
            <pc:docMk/>
            <pc:sldMk cId="0" sldId="266"/>
            <ac:spMk id="25" creationId="{00000000-0000-0000-0000-000000000000}"/>
          </ac:spMkLst>
        </pc:spChg>
        <pc:spChg chg="mod">
          <ac:chgData name="hemasree dev" userId="b7e98dbdfb90c427" providerId="LiveId" clId="{07802E01-ACD5-4975-B7E4-4557735E1881}" dt="2026-06-24T09:44:16.860" v="90" actId="1076"/>
          <ac:spMkLst>
            <pc:docMk/>
            <pc:sldMk cId="0" sldId="266"/>
            <ac:spMk id="26" creationId="{00000000-0000-0000-0000-000000000000}"/>
          </ac:spMkLst>
        </pc:spChg>
        <pc:spChg chg="add mod">
          <ac:chgData name="hemasree dev" userId="b7e98dbdfb90c427" providerId="LiveId" clId="{07802E01-ACD5-4975-B7E4-4557735E1881}" dt="2026-06-24T09:55:35.256" v="201" actId="1076"/>
          <ac:spMkLst>
            <pc:docMk/>
            <pc:sldMk cId="0" sldId="266"/>
            <ac:spMk id="28" creationId="{0C67E9AD-8557-709D-FE5B-A766387E4026}"/>
          </ac:spMkLst>
        </pc:spChg>
        <pc:spChg chg="add mod">
          <ac:chgData name="hemasree dev" userId="b7e98dbdfb90c427" providerId="LiveId" clId="{07802E01-ACD5-4975-B7E4-4557735E1881}" dt="2026-06-24T09:55:45.003" v="203" actId="1076"/>
          <ac:spMkLst>
            <pc:docMk/>
            <pc:sldMk cId="0" sldId="266"/>
            <ac:spMk id="30" creationId="{EB40BEDD-1D22-FD0B-1AF3-EC7B70B3C322}"/>
          </ac:spMkLst>
        </pc:spChg>
        <pc:spChg chg="add del mod">
          <ac:chgData name="hemasree dev" userId="b7e98dbdfb90c427" providerId="LiveId" clId="{07802E01-ACD5-4975-B7E4-4557735E1881}" dt="2026-06-24T09:50:51.929" v="160" actId="478"/>
          <ac:spMkLst>
            <pc:docMk/>
            <pc:sldMk cId="0" sldId="266"/>
            <ac:spMk id="32" creationId="{7BD046CB-1496-2914-19A3-79EC7B62172D}"/>
          </ac:spMkLst>
        </pc:spChg>
        <pc:spChg chg="add del mod">
          <ac:chgData name="hemasree dev" userId="b7e98dbdfb90c427" providerId="LiveId" clId="{07802E01-ACD5-4975-B7E4-4557735E1881}" dt="2026-06-24T09:50:46.789" v="159" actId="478"/>
          <ac:spMkLst>
            <pc:docMk/>
            <pc:sldMk cId="0" sldId="266"/>
            <ac:spMk id="34" creationId="{7AEDD799-FF49-27A7-21C9-48A319F29DA7}"/>
          </ac:spMkLst>
        </pc:spChg>
        <pc:spChg chg="add mod">
          <ac:chgData name="hemasree dev" userId="b7e98dbdfb90c427" providerId="LiveId" clId="{07802E01-ACD5-4975-B7E4-4557735E1881}" dt="2026-06-24T09:55:49.150" v="204" actId="1076"/>
          <ac:spMkLst>
            <pc:docMk/>
            <pc:sldMk cId="0" sldId="266"/>
            <ac:spMk id="36" creationId="{A3EAE77C-647E-EF76-17B9-575F06D7F9D4}"/>
          </ac:spMkLst>
        </pc:spChg>
        <pc:spChg chg="add mod">
          <ac:chgData name="hemasree dev" userId="b7e98dbdfb90c427" providerId="LiveId" clId="{07802E01-ACD5-4975-B7E4-4557735E1881}" dt="2026-06-24T09:55:40.344" v="202" actId="1076"/>
          <ac:spMkLst>
            <pc:docMk/>
            <pc:sldMk cId="0" sldId="266"/>
            <ac:spMk id="38" creationId="{2A081414-B33A-EF76-F03A-C4A5CF00CF02}"/>
          </ac:spMkLst>
        </pc:spChg>
        <pc:spChg chg="add del">
          <ac:chgData name="hemasree dev" userId="b7e98dbdfb90c427" providerId="LiveId" clId="{07802E01-ACD5-4975-B7E4-4557735E1881}" dt="2026-06-24T09:54:26.967" v="196" actId="22"/>
          <ac:spMkLst>
            <pc:docMk/>
            <pc:sldMk cId="0" sldId="266"/>
            <ac:spMk id="40" creationId="{155508E9-845E-E5A8-FFAD-32277E006839}"/>
          </ac:spMkLst>
        </pc:spChg>
        <pc:spChg chg="add mod">
          <ac:chgData name="hemasree dev" userId="b7e98dbdfb90c427" providerId="LiveId" clId="{07802E01-ACD5-4975-B7E4-4557735E1881}" dt="2026-06-24T09:55:28.549" v="200" actId="1076"/>
          <ac:spMkLst>
            <pc:docMk/>
            <pc:sldMk cId="0" sldId="266"/>
            <ac:spMk id="42" creationId="{DA820C5B-8A5D-DBF9-5596-4ECE38A7BC77}"/>
          </ac:spMkLst>
        </pc:spChg>
      </pc:sldChg>
      <pc:sldChg chg="addSp modSp mod">
        <pc:chgData name="hemasree dev" userId="b7e98dbdfb90c427" providerId="LiveId" clId="{07802E01-ACD5-4975-B7E4-4557735E1881}" dt="2026-06-24T09:50:17.808" v="155" actId="1076"/>
        <pc:sldMkLst>
          <pc:docMk/>
          <pc:sldMk cId="1338877218" sldId="273"/>
        </pc:sldMkLst>
        <pc:spChg chg="add mod">
          <ac:chgData name="hemasree dev" userId="b7e98dbdfb90c427" providerId="LiveId" clId="{07802E01-ACD5-4975-B7E4-4557735E1881}" dt="2026-06-24T09:49:56.947" v="152" actId="1076"/>
          <ac:spMkLst>
            <pc:docMk/>
            <pc:sldMk cId="1338877218" sldId="273"/>
            <ac:spMk id="5" creationId="{C35714EE-E679-BEC5-DB95-F3A2F2B97028}"/>
          </ac:spMkLst>
        </pc:spChg>
        <pc:spChg chg="add mod">
          <ac:chgData name="hemasree dev" userId="b7e98dbdfb90c427" providerId="LiveId" clId="{07802E01-ACD5-4975-B7E4-4557735E1881}" dt="2026-06-24T09:49:29.798" v="148" actId="1076"/>
          <ac:spMkLst>
            <pc:docMk/>
            <pc:sldMk cId="1338877218" sldId="273"/>
            <ac:spMk id="7" creationId="{5CF92A16-1BD7-C781-96CD-AE869F7E8F69}"/>
          </ac:spMkLst>
        </pc:spChg>
        <pc:spChg chg="add mod">
          <ac:chgData name="hemasree dev" userId="b7e98dbdfb90c427" providerId="LiveId" clId="{07802E01-ACD5-4975-B7E4-4557735E1881}" dt="2026-06-24T09:50:17.808" v="155" actId="1076"/>
          <ac:spMkLst>
            <pc:docMk/>
            <pc:sldMk cId="1338877218" sldId="273"/>
            <ac:spMk id="9" creationId="{E18DA929-AF53-D13D-6E2F-46FEFBC0DEAF}"/>
          </ac:spMkLst>
        </pc:spChg>
        <pc:spChg chg="mod">
          <ac:chgData name="hemasree dev" userId="b7e98dbdfb90c427" providerId="LiveId" clId="{07802E01-ACD5-4975-B7E4-4557735E1881}" dt="2026-06-24T09:48:15.010" v="131" actId="14100"/>
          <ac:spMkLst>
            <pc:docMk/>
            <pc:sldMk cId="1338877218" sldId="273"/>
            <ac:spMk id="23" creationId="{7C829F76-0CE9-B34F-FEDD-1C78EE758C1C}"/>
          </ac:spMkLst>
        </pc:spChg>
        <pc:spChg chg="mod">
          <ac:chgData name="hemasree dev" userId="b7e98dbdfb90c427" providerId="LiveId" clId="{07802E01-ACD5-4975-B7E4-4557735E1881}" dt="2026-06-24T09:48:35.382" v="139" actId="14100"/>
          <ac:spMkLst>
            <pc:docMk/>
            <pc:sldMk cId="1338877218" sldId="273"/>
            <ac:spMk id="47" creationId="{5630020C-74C0-BE77-2FD7-3857D3DCD422}"/>
          </ac:spMkLst>
        </pc:spChg>
        <pc:picChg chg="mod">
          <ac:chgData name="hemasree dev" userId="b7e98dbdfb90c427" providerId="LiveId" clId="{07802E01-ACD5-4975-B7E4-4557735E1881}" dt="2026-06-24T09:48:44.232" v="142" actId="14100"/>
          <ac:picMkLst>
            <pc:docMk/>
            <pc:sldMk cId="1338877218" sldId="273"/>
            <ac:picMk id="51" creationId="{ACC3D71D-40A2-4B08-A5E2-A2F2B69BA54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415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B2E69-4357-C79B-D044-1B4B8970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1F4A3-5D1F-F36B-28E7-F96EBFB76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79279-C1F2-F003-442C-7C31166D7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AE868-A766-07B9-7E5C-6D77CD39CF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44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E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68680"/>
            <a:ext cx="9144000" cy="18288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9601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Smart Medicine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and Refill Alert System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371600" y="283464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2E5F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0" y="2834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CSA0820 - Python Programming for Scientific Computing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3401568"/>
            <a:ext cx="8595360" cy="0"/>
          </a:xfrm>
          <a:prstGeom prst="line">
            <a:avLst/>
          </a:prstGeom>
          <a:noFill/>
          <a:ln w="12700">
            <a:solidFill>
              <a:srgbClr val="A8BF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520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3749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P. Vijayaragavan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Aruna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0" y="3520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0" y="3749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Hemasree  (192524114)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Srividya  (192524158)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676656"/>
            <a:ext cx="8503920" cy="18288"/>
          </a:xfrm>
          <a:prstGeom prst="rect">
            <a:avLst/>
          </a:prstGeom>
          <a:solidFill>
            <a:srgbClr val="A8BFCF"/>
          </a:solidFill>
          <a:ln w="12700">
            <a:solidFill>
              <a:srgbClr val="A8B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8503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06424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non-adherence is a major global health problem.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patients miss doses or forget to refill prescriptions.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leads to preventable hospitalizations and worsening of chronic conditions.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8503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084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40864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rich libraries — Tkinter, SQLite, schedule, smtplib, and Twilio.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allows building a full-featured desktop application with less code.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connects easily with Arduino hardware using PySerial.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8503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319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575304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system communicates with Arduino via PySerial in real time.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detects medicine levels using IR sensors and triggers smart alerts.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sent through desktop popup, email, and SMS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676656"/>
            <a:ext cx="8503920" cy="18288"/>
          </a:xfrm>
          <a:prstGeom prst="rect">
            <a:avLst/>
          </a:prstGeom>
          <a:solidFill>
            <a:srgbClr val="A8BFCF"/>
          </a:solidFill>
          <a:ln w="12700">
            <a:solidFill>
              <a:srgbClr val="A8B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53035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50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 patients need strict medicine schedules every day.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is unreliable, especially for elderly patients living alone.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53035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947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frequently miss doses or run out of medicine without refill alerts.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pill boxes offer no automation or smart connectivity.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971800"/>
            <a:ext cx="53035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0449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29184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doses cause disease progression and expensive emergency visits.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 systems reduce hospitalizations by up to 30%.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7880" y="777240"/>
            <a:ext cx="2926080" cy="3383280"/>
          </a:xfrm>
          <a:prstGeom prst="roundRect">
            <a:avLst>
              <a:gd name="adj" fmla="val 4688"/>
            </a:avLst>
          </a:prstGeom>
          <a:solidFill>
            <a:srgbClr val="1B2A4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8961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1298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89320" y="1627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skip medicines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2029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125K+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89320" y="2359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deaths/year (non-adherence)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27614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89320" y="3090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hospitalizations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3493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₹1.5L Cr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89320" y="38221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annual burden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676656"/>
            <a:ext cx="8503920" cy="18288"/>
          </a:xfrm>
          <a:prstGeom prst="rect">
            <a:avLst/>
          </a:prstGeom>
          <a:solidFill>
            <a:srgbClr val="A8BFCF"/>
          </a:solidFill>
          <a:ln w="12700">
            <a:solidFill>
              <a:srgbClr val="A8B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4160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4632" y="850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Desktop App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" y="110642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Tkinter GUI for managing medicine schedules and patient profiles using SQLite database.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901952"/>
            <a:ext cx="4160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1975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23113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time-based alerts using the schedule library — desktop popups, email (smtplib), and SMS (Twilio).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026664"/>
            <a:ext cx="4160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099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Integration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" y="335584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communicates with Arduino via PySerial to receive real-time IR sensor data from compartments.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4160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850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Refill Alert Module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10642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 low medicine levels using IR sensor data and notify caregivers in advance.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901952"/>
            <a:ext cx="4160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28032" y="1975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Logging &amp; Reports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223113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adherence history and generate compliance reports using Matplotlib stored in SQLite.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26664"/>
            <a:ext cx="4160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28032" y="3099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335584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background thread continuously monitors sensor readings and triggers alerts on missed doses.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676656"/>
            <a:ext cx="8503920" cy="18288"/>
          </a:xfrm>
          <a:prstGeom prst="rect">
            <a:avLst/>
          </a:prstGeom>
          <a:solidFill>
            <a:srgbClr val="A8BFCF"/>
          </a:solidFill>
          <a:ln w="12700">
            <a:solidFill>
              <a:srgbClr val="A8B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8412480" cy="95467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Boundaries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95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focuses on Python desktop app development with Arduino hardware integration. It covers medicine scheduling, automated reminders, and refill detection — not a medical diagnosis tool.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084832"/>
            <a:ext cx="41605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502920" y="2136547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Included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41025"/>
            <a:ext cx="3840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GUI app (Tkinter) for medicine scheduling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Arduino–Python (PySerial) serial communication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sensor-based medicine compartment monitoring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Desktop, Email &amp; SMS alert system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for patient &amp; medicine records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adherence tracking &amp; reports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module integration for accurate timing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2084832"/>
            <a:ext cx="41605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4892040" y="2136547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is Excluded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392579"/>
            <a:ext cx="3840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 or prescription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(Android/iOS) development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or IoT server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Multi-patient hospital-level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or Bluetooth wireless connectivity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medicine dispensing mechanism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or pharmacy system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/ Methodology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676656"/>
            <a:ext cx="8503920" cy="18288"/>
          </a:xfrm>
          <a:prstGeom prst="rect">
            <a:avLst/>
          </a:prstGeom>
          <a:solidFill>
            <a:srgbClr val="A8BFCF"/>
          </a:solidFill>
          <a:ln w="12700">
            <a:solidFill>
              <a:srgbClr val="A8B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PySerial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smtplib / Twilio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(C++)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63240" y="777240"/>
            <a:ext cx="57607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27248" y="868680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27248" y="868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850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Setup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02736" y="1069848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Arduino hardware is set up with IR sensors and an RTC module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63240" y="1453896"/>
            <a:ext cx="57607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27248" y="1545336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15453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PySerial Connection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17465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connects to Arduino through a USB serial port using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PySerial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reads sensor data in real 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63240" y="2130552"/>
            <a:ext cx="57607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27248" y="2221992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27248" y="2221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11880" y="22037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Processing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11880" y="2423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background process checks the data against the medicine schedule stored in SQLite. 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63240" y="2807208"/>
            <a:ext cx="57607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27248" y="2898648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27248" y="2898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1188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Notification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11880" y="30998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dose is missed, alerts are sent through desktop popup, email, and SMS.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63240" y="3495976"/>
            <a:ext cx="57607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27248" y="3575304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127248" y="3575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11880" y="35570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Refill Detection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11880" y="3776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medicine compartment is detected empty, a refill alert is automatically triggered.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/ Existing Systems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676656"/>
            <a:ext cx="8503920" cy="18288"/>
          </a:xfrm>
          <a:prstGeom prst="rect">
            <a:avLst/>
          </a:prstGeom>
          <a:solidFill>
            <a:srgbClr val="A8BFCF"/>
          </a:solidFill>
          <a:ln w="12700">
            <a:solidFill>
              <a:srgbClr val="A8B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59436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503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1: Manual Pill Boxes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56692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weekly pill organizers require manual refilling with no electronic monitoring.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offer zero automation and completely rely on patient memory.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unreliable for elderly or cognitively impaired users.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039112"/>
            <a:ext cx="59436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11226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2: Mobile Reminder Apps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56692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like Medisafe send push notifications but lack hardware integration.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detect whether medicine was actually taken — only if reminder was dismissed.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refill detection capability is available.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300984"/>
            <a:ext cx="5943600" cy="14042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37413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3: Commercial Smart Dispensers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639312"/>
            <a:ext cx="56692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like Hero or MedMinder cost ₹15,000–₹50,000+ with monthly subscriptions.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depend on cloud servers and are not affordable for common Indian households.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accessible in rural areas.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777240"/>
            <a:ext cx="2331720" cy="3611880"/>
          </a:xfrm>
          <a:prstGeom prst="roundRect">
            <a:avLst>
              <a:gd name="adj" fmla="val 5882"/>
            </a:avLst>
          </a:prstGeom>
          <a:solidFill>
            <a:srgbClr val="1B2A4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65392" y="86868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Current Solutions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65392" y="1280160"/>
            <a:ext cx="217627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hardware-level detection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confirm dose taken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refill prediction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&amp; cloud-dependent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suited for Indian context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Python system solves all!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Medicine Reminder System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Python Medicine Reminder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676656"/>
            <a:ext cx="8503920" cy="18288"/>
          </a:xfrm>
          <a:prstGeom prst="rect">
            <a:avLst/>
          </a:prstGeom>
          <a:solidFill>
            <a:srgbClr val="A8BFCF"/>
          </a:solidFill>
          <a:ln w="12700">
            <a:solidFill>
              <a:srgbClr val="A8B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8386" y="764084"/>
            <a:ext cx="4754880" cy="1398471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0797" y="8006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– Tkinter 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9357" y="1006658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desktop application using </a:t>
            </a:r>
            <a:r>
              <a:rPr lang="en-US" sz="12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patients to enter medicine name, timing, and dosage.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details and medicine schedules are stored in a SQLite database for local data storage.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does not need to perform any manual actions after setting the schedule.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8385" y="2199131"/>
            <a:ext cx="4754880" cy="1379623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475488" y="2220765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Engine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0797" y="2423160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'schedule' library runs in the background and continuously checks the medicine timings.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scheduled time matches, the system automatically triggers an alert.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automatically manages medicine reminders and notifications.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654149"/>
            <a:ext cx="4703225" cy="1379623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0797" y="367131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Notification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0797" y="3858768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popup notification appears on the screen to remind the patient.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alert is sent using the </a:t>
            </a:r>
            <a:r>
              <a:rPr lang="en-US" sz="12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smtplib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library.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SMS alert is sent using Twilio.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notifications (popup, email, and SMS) are triggered simultaneously.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57800" y="77724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1E2D3D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49240" y="8686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reminder.py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11887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schedule, smtplib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9240" y="13624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sqlite3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9240" y="15361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plyer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notification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9240" y="18562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send_reminder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(medicine):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49240" y="20299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notification.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notify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9240" y="22037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title=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'Medicine Reminder'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9240" y="23774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message=medicine)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49240" y="26974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send_email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(to, msg):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49240" y="28712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 = smtplib.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SMTP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_SSL(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9240" y="30449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'smtp.gmail.com'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465)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9240" y="32186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server.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sendmail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(to, msg)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49240" y="35387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Schedule daily reminder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49240" y="371246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schedule.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'08:00'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49240" y="38862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(send_reminder,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'Metformin'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Hardware &amp; Refill Alert System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Arduino Hardware &amp; Refill Alert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676656"/>
            <a:ext cx="8503920" cy="18288"/>
          </a:xfrm>
          <a:prstGeom prst="rect">
            <a:avLst/>
          </a:prstGeom>
          <a:solidFill>
            <a:srgbClr val="A8BFCF"/>
          </a:solidFill>
          <a:ln w="12700">
            <a:solidFill>
              <a:srgbClr val="A8BF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260" y="713232"/>
            <a:ext cx="5840967" cy="43205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324108" y="84221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Integration Module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9911" y="807649"/>
            <a:ext cx="2686869" cy="3495267"/>
          </a:xfrm>
          <a:prstGeom prst="roundRect">
            <a:avLst>
              <a:gd name="adj" fmla="val 3141"/>
            </a:avLst>
          </a:prstGeom>
          <a:solidFill>
            <a:srgbClr val="1E2D3D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6679171" y="83566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serial_reader.py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1273" y="1040209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serial, json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1273" y="123179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threading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1273" y="151975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read_arduino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1273" y="1843061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 = serial.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1273" y="2054407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'COM3'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9600)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1273" y="2200711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True: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24424" y="2407947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line = ser.readline()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4424" y="26151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 = json.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loads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(line)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4424" y="28163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data[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'slot1'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0: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4424" y="3011451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send_refill_alert()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06445" y="321288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in background thread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77135" y="344401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threading.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4424" y="3651111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target=read_arduino)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06445" y="38644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daemon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6445" y="408367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0C67E9AD-8557-709D-FE5B-A766387E4026}"/>
              </a:ext>
            </a:extLst>
          </p:cNvPr>
          <p:cNvSpPr/>
          <p:nvPr/>
        </p:nvSpPr>
        <p:spPr>
          <a:xfrm>
            <a:off x="320040" y="3048447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Monitoring &amp; Alert System</a:t>
            </a:r>
            <a:endParaRPr lang="en-US" sz="13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EB40BEDD-1D22-FD0B-1AF3-EC7B70B3C322}"/>
              </a:ext>
            </a:extLst>
          </p:cNvPr>
          <p:cNvSpPr/>
          <p:nvPr/>
        </p:nvSpPr>
        <p:spPr>
          <a:xfrm>
            <a:off x="320040" y="2139199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Arduino–Python Communication Module</a:t>
            </a:r>
            <a:endParaRPr lang="en-US" sz="13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A3EAE77C-647E-EF76-17B9-575F06D7F9D4}"/>
              </a:ext>
            </a:extLst>
          </p:cNvPr>
          <p:cNvSpPr/>
          <p:nvPr/>
        </p:nvSpPr>
        <p:spPr>
          <a:xfrm>
            <a:off x="398102" y="1137620"/>
            <a:ext cx="5840967" cy="9741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real hardware components to the Python application.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IR sensors inside each medicine compartment of the box.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sensors detect whether medicine is present or not in the compartment.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compartment is empty, the sensor generates a signal.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is sent to the Arduino Uno for processing.</a:t>
            </a:r>
            <a:endParaRPr lang="en-US" sz="12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2A081414-B33A-EF76-F03A-C4A5CF00CF02}"/>
              </a:ext>
            </a:extLst>
          </p:cNvPr>
          <p:cNvSpPr/>
          <p:nvPr/>
        </p:nvSpPr>
        <p:spPr>
          <a:xfrm>
            <a:off x="330324" y="2363273"/>
            <a:ext cx="5704119" cy="68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converts the sensor signal into data.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sent to Python through a USB cable using </a:t>
            </a:r>
            <a:r>
              <a:rPr lang="en-US" sz="12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PySerial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continuously reads the incoming data in the background using a thread.</a:t>
            </a:r>
            <a:endParaRPr lang="en-US" sz="1200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DA820C5B-8A5D-DBF9-5596-4ECE38A7BC77}"/>
              </a:ext>
            </a:extLst>
          </p:cNvPr>
          <p:cNvSpPr/>
          <p:nvPr/>
        </p:nvSpPr>
        <p:spPr>
          <a:xfrm>
            <a:off x="324108" y="3266056"/>
            <a:ext cx="5704119" cy="68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dose is missed (medicine remains in the box after the scheduled time), Python sends an alert.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compartment becomes completely empty, Python sends a refill alert to the caregiver.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LCD screen displays the medicine name and current status.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buzzer provides an audible alert notification.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 indicates medicine taken successfully.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indicates a missed dose.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LED indicates that a refill is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676656"/>
            <a:ext cx="8503920" cy="18288"/>
          </a:xfrm>
          <a:prstGeom prst="rect">
            <a:avLst/>
          </a:prstGeom>
          <a:solidFill>
            <a:srgbClr val="A8BFCF"/>
          </a:solidFill>
          <a:ln w="12700">
            <a:solidFill>
              <a:srgbClr val="A8B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(GUI)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2471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— Python built-in GUI framework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ttk widgets for modern styling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for custom visual elements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PIL/Pillow for image display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82112" y="7772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9272" y="868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(Python)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19272" y="112471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 — core language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library for timed tasks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for background processes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PySerial for Arduino communication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53328" y="7772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0488" y="868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0488" y="112471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— built-in Python database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patient &amp; medicine records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history &amp; adherence logs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server required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724912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816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072384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plyer — cross-platform notifications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smtplib + SSL — email alerts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SDK — SMS notifications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PySerial → Arduino buzzer trigger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82112" y="2724912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19272" y="2816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Stack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9272" y="3072384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+ Arduino IDE (C++)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sensors + RTC DS3231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 + I2C module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LEDs + Push buttons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53328" y="2724912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90488" y="2816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0488" y="3072384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Thonny IDE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for version control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for reports/graphs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Fritzing for circuit diagrams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BAE7F-23F7-1C65-846B-B962136C0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37FCE3C-29AD-5843-7AF7-8A3CD42DA78D}"/>
              </a:ext>
            </a:extLst>
          </p:cNvPr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ea typeface="Cambria" pitchFamily="34" charset="-122"/>
                <a:cs typeface="Cambria" pitchFamily="34" charset="-120"/>
              </a:rPr>
              <a:t>Working Model &amp; Circuit Diagram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BEC3440-0D26-4A1C-E935-5F3FB71FFBCF}"/>
              </a:ext>
            </a:extLst>
          </p:cNvPr>
          <p:cNvSpPr/>
          <p:nvPr/>
        </p:nvSpPr>
        <p:spPr>
          <a:xfrm>
            <a:off x="320040" y="676656"/>
            <a:ext cx="8503920" cy="18288"/>
          </a:xfrm>
          <a:prstGeom prst="rect">
            <a:avLst/>
          </a:prstGeom>
          <a:solidFill>
            <a:srgbClr val="A8BFCF"/>
          </a:solidFill>
          <a:ln w="12700">
            <a:solidFill>
              <a:srgbClr val="A8BFCF"/>
            </a:solidFill>
            <a:prstDash val="solid"/>
          </a:ln>
        </p:spPr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7C829F76-0CE9-B34F-FEDD-1C78EE758C1C}"/>
              </a:ext>
            </a:extLst>
          </p:cNvPr>
          <p:cNvSpPr/>
          <p:nvPr/>
        </p:nvSpPr>
        <p:spPr>
          <a:xfrm>
            <a:off x="320040" y="800208"/>
            <a:ext cx="416052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D27418-A268-024B-5C96-22CD9BB0A760}"/>
              </a:ext>
            </a:extLst>
          </p:cNvPr>
          <p:cNvSpPr txBox="1"/>
          <p:nvPr/>
        </p:nvSpPr>
        <p:spPr>
          <a:xfrm>
            <a:off x="435600" y="8171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Model</a:t>
            </a:r>
            <a:endParaRPr lang="en-US" sz="1800" dirty="0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A9315B17-91B5-02FE-05C2-6EF0E49E77F9}"/>
              </a:ext>
            </a:extLst>
          </p:cNvPr>
          <p:cNvSpPr/>
          <p:nvPr/>
        </p:nvSpPr>
        <p:spPr>
          <a:xfrm>
            <a:off x="384048" y="388620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52E40D-E42B-4634-5E33-0461370762C1}"/>
              </a:ext>
            </a:extLst>
          </p:cNvPr>
          <p:cNvSpPr txBox="1"/>
          <p:nvPr/>
        </p:nvSpPr>
        <p:spPr>
          <a:xfrm>
            <a:off x="-1394352" y="3880622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1417E8F6-3E7E-6600-C803-8C3362889E8F}"/>
              </a:ext>
            </a:extLst>
          </p:cNvPr>
          <p:cNvSpPr/>
          <p:nvPr/>
        </p:nvSpPr>
        <p:spPr>
          <a:xfrm>
            <a:off x="2503152" y="388620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3035A34E-38EE-69C2-FAD4-2E46850AF8BA}"/>
              </a:ext>
            </a:extLst>
          </p:cNvPr>
          <p:cNvSpPr/>
          <p:nvPr/>
        </p:nvSpPr>
        <p:spPr>
          <a:xfrm>
            <a:off x="3524904" y="3911232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669D1D40-5094-1768-7C2F-1F14D601C37F}"/>
              </a:ext>
            </a:extLst>
          </p:cNvPr>
          <p:cNvSpPr/>
          <p:nvPr/>
        </p:nvSpPr>
        <p:spPr>
          <a:xfrm>
            <a:off x="1353312" y="388620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5C98C8-F98D-8F70-4CC9-8C74B4B628F5}"/>
              </a:ext>
            </a:extLst>
          </p:cNvPr>
          <p:cNvSpPr txBox="1"/>
          <p:nvPr/>
        </p:nvSpPr>
        <p:spPr>
          <a:xfrm>
            <a:off x="-835560" y="3886200"/>
            <a:ext cx="527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6C7C08-44B1-8C7E-5AF7-FD4152866ED5}"/>
              </a:ext>
            </a:extLst>
          </p:cNvPr>
          <p:cNvSpPr txBox="1"/>
          <p:nvPr/>
        </p:nvSpPr>
        <p:spPr>
          <a:xfrm>
            <a:off x="325152" y="3875044"/>
            <a:ext cx="527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04B959-7B21-ADB2-43D3-B067AA5F17A0}"/>
              </a:ext>
            </a:extLst>
          </p:cNvPr>
          <p:cNvSpPr txBox="1"/>
          <p:nvPr/>
        </p:nvSpPr>
        <p:spPr>
          <a:xfrm>
            <a:off x="3559752" y="3897356"/>
            <a:ext cx="527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47" name="Shape 12">
            <a:extLst>
              <a:ext uri="{FF2B5EF4-FFF2-40B4-BE49-F238E27FC236}">
                <a16:creationId xmlns:a16="http://schemas.microsoft.com/office/drawing/2014/main" id="{5630020C-74C0-BE77-2FD7-3857D3DCD422}"/>
              </a:ext>
            </a:extLst>
          </p:cNvPr>
          <p:cNvSpPr/>
          <p:nvPr/>
        </p:nvSpPr>
        <p:spPr>
          <a:xfrm>
            <a:off x="4892040" y="749808"/>
            <a:ext cx="3977640" cy="2354549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0D2B5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02D63CB0-E15A-0534-D579-81674906F12C}"/>
              </a:ext>
            </a:extLst>
          </p:cNvPr>
          <p:cNvSpPr/>
          <p:nvPr/>
        </p:nvSpPr>
        <p:spPr>
          <a:xfrm>
            <a:off x="4782312" y="8046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Circuit Diagram</a:t>
            </a:r>
            <a:endParaRPr lang="en-US" sz="1200" dirty="0"/>
          </a:p>
        </p:txBody>
      </p:sp>
      <p:pic>
        <p:nvPicPr>
          <p:cNvPr id="51" name="Image 1" descr="preencoded.png">
            <a:extLst>
              <a:ext uri="{FF2B5EF4-FFF2-40B4-BE49-F238E27FC236}">
                <a16:creationId xmlns:a16="http://schemas.microsoft.com/office/drawing/2014/main" id="{ACC3D71D-40A2-4B08-A5E2-A2F2B69BA5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1547" y="1054190"/>
            <a:ext cx="2985139" cy="1763656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C35714EE-E679-BEC5-DB95-F3A2F2B97028}"/>
              </a:ext>
            </a:extLst>
          </p:cNvPr>
          <p:cNvSpPr/>
          <p:nvPr/>
        </p:nvSpPr>
        <p:spPr>
          <a:xfrm>
            <a:off x="4750495" y="3156524"/>
            <a:ext cx="4260729" cy="19210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CF92A16-1BD7-C781-96CD-AE869F7E8F69}"/>
              </a:ext>
            </a:extLst>
          </p:cNvPr>
          <p:cNvSpPr/>
          <p:nvPr/>
        </p:nvSpPr>
        <p:spPr>
          <a:xfrm>
            <a:off x="4892040" y="3154299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</a:t>
            </a:r>
            <a:endParaRPr lang="en-US" sz="13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18DA929-AF53-D13D-6E2F-46FEFBC0DEAF}"/>
              </a:ext>
            </a:extLst>
          </p:cNvPr>
          <p:cNvSpPr/>
          <p:nvPr/>
        </p:nvSpPr>
        <p:spPr>
          <a:xfrm>
            <a:off x="4879599" y="3461354"/>
            <a:ext cx="3824620" cy="1255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— main controller running C++ code.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Sensors (×3) — detect medicine presence per compartment.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Module DS3231 — accurate real-time clock for timing.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 — shows medicine name and reminder status.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LEDs — audio and visual alerts for patient.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38877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/ Timeline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676656"/>
            <a:ext cx="8503920" cy="18288"/>
          </a:xfrm>
          <a:prstGeom prst="rect">
            <a:avLst/>
          </a:prstGeom>
          <a:solidFill>
            <a:srgbClr val="A8BFCF"/>
          </a:solidFill>
          <a:ln w="12700">
            <a:solidFill>
              <a:srgbClr val="A8B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7724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95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04241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06/2025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51790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19019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medicine reminder specs and sensor requirements.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Python libraries — PySerial, Tkinter, schedule.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module scope and system design.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50592" y="77724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95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50592" y="104241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07/2025 Week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50592" y="1444752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42032" y="151790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Design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1828800"/>
            <a:ext cx="19019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Arduino circuit with IR sensors and RTC module.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LCD display, buzzer, and LED indicators.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hardware components using Arduino IDE.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26864" y="77724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795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26864" y="104241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07/2025 Week 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26864" y="1444752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18304" y="151790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8304" y="1828800"/>
            <a:ext cx="19019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Tkinter GUI dashboard for patient use.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SQLite database schema for records.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PySerial Arduino bridge and alert engine.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03136" y="77724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795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03136" y="104241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07/2025 Week 3-4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03136" y="1444752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94576" y="151790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94576" y="1828800"/>
            <a:ext cx="19019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hardware with Python application.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reminder and refill alert workflows.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edge cases and incorporate user feedback.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676656"/>
            <a:ext cx="8503920" cy="18288"/>
          </a:xfrm>
          <a:prstGeom prst="rect">
            <a:avLst/>
          </a:prstGeom>
          <a:solidFill>
            <a:srgbClr val="A8BFCF"/>
          </a:solidFill>
          <a:ln w="12700">
            <a:solidFill>
              <a:srgbClr val="A8B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39" y="777240"/>
            <a:ext cx="8551457" cy="1186236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Final Deliverables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64539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Python desktop application integrated with Arduino hardware — capable of scheduling medicine reminders, detecting missed doses via IR sensors, sending multi-channel alerts (desktop, email, SMS), and automatically triggering refill notifications when medicine stock runs low.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7" y="2036628"/>
            <a:ext cx="4233673" cy="2997144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571750"/>
            <a:ext cx="4065913" cy="272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 on missed doses via desktop, email &amp; SMS.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Hardware-confirmed medicine detection — not just reminders.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Refill alerts before stock runs out — no last-minute rush.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reports for doctor visits and treatment review.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solution using Arduino + Python — no subscriptions.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2045772"/>
            <a:ext cx="4160520" cy="2912863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4846320" y="2708668"/>
            <a:ext cx="393192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Raspberry Pi for Wi-Fi and IoT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connectivity.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integration via Bluetooth or REST API.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adherence prediction and behavior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analysis.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Multi-patient hospital ward monitoring system.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dashboard for remote caregiver access.</a:t>
            </a:r>
            <a:endParaRPr lang="en-US" sz="12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36A8FEA8-38F5-C88B-BDE4-BF0F56A5DF07}"/>
              </a:ext>
            </a:extLst>
          </p:cNvPr>
          <p:cNvSpPr/>
          <p:nvPr/>
        </p:nvSpPr>
        <p:spPr>
          <a:xfrm>
            <a:off x="283463" y="2020522"/>
            <a:ext cx="4160520" cy="36576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490F1974-81CD-8F36-091C-B52DC9887B64}"/>
              </a:ext>
            </a:extLst>
          </p:cNvPr>
          <p:cNvSpPr/>
          <p:nvPr/>
        </p:nvSpPr>
        <p:spPr>
          <a:xfrm>
            <a:off x="4617720" y="2057586"/>
            <a:ext cx="4160520" cy="36576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80836ECD-6DA2-1778-8073-CB7639A46419}"/>
              </a:ext>
            </a:extLst>
          </p:cNvPr>
          <p:cNvSpPr/>
          <p:nvPr/>
        </p:nvSpPr>
        <p:spPr>
          <a:xfrm>
            <a:off x="585216" y="208948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 to Users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D79A0E-4919-F7D7-21A1-702FCF4477E2}"/>
              </a:ext>
            </a:extLst>
          </p:cNvPr>
          <p:cNvSpPr txBox="1"/>
          <p:nvPr/>
        </p:nvSpPr>
        <p:spPr>
          <a:xfrm>
            <a:off x="4663440" y="208276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676656"/>
            <a:ext cx="8503920" cy="18288"/>
          </a:xfrm>
          <a:prstGeom prst="rect">
            <a:avLst/>
          </a:prstGeom>
          <a:solidFill>
            <a:srgbClr val="A8BFCF"/>
          </a:solidFill>
          <a:ln w="12700">
            <a:solidFill>
              <a:srgbClr val="A8B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502920" cy="621792"/>
          </a:xfrm>
          <a:prstGeom prst="roundRect">
            <a:avLst>
              <a:gd name="adj" fmla="val 18182"/>
            </a:avLst>
          </a:prstGeom>
          <a:solidFill>
            <a:srgbClr val="C8E6C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93268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877824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low-cost embedded system that automates medicine reminders using RTC-based time scheduling.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17904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517904"/>
            <a:ext cx="502920" cy="621792"/>
          </a:xfrm>
          <a:prstGeom prst="roundRect">
            <a:avLst>
              <a:gd name="adj" fmla="val 18182"/>
            </a:avLst>
          </a:prstGeom>
          <a:solidFill>
            <a:srgbClr val="C8E6C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64592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591056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bridges the gap between hardware sensing (Arduino) and intelligent software processing — providing an affordable healthcare companion.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231136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31136"/>
            <a:ext cx="502920" cy="621792"/>
          </a:xfrm>
          <a:prstGeom prst="roundRect">
            <a:avLst>
              <a:gd name="adj" fmla="val 18182"/>
            </a:avLst>
          </a:prstGeom>
          <a:solidFill>
            <a:srgbClr val="C8E6C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35915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304288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 reliably detects medicine stock level and triggers a refill alert before the compartment runs empty.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44368"/>
            <a:ext cx="502920" cy="621792"/>
          </a:xfrm>
          <a:prstGeom prst="roundRect">
            <a:avLst>
              <a:gd name="adj" fmla="val 18182"/>
            </a:avLst>
          </a:prstGeom>
          <a:solidFill>
            <a:srgbClr val="C8E6C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3072384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017520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display, buzzer, and LED indicators give clear real-time feedback to the patient at dose time.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657600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657600"/>
            <a:ext cx="502920" cy="621792"/>
          </a:xfrm>
          <a:prstGeom prst="roundRect">
            <a:avLst>
              <a:gd name="adj" fmla="val 18182"/>
            </a:avLst>
          </a:prstGeom>
          <a:solidFill>
            <a:srgbClr val="C8E6C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378561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730752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 lets the patient confirm a dose was taken, avoiding repeated false alerts.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370832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370832"/>
            <a:ext cx="502920" cy="621792"/>
          </a:xfrm>
          <a:prstGeom prst="roundRect">
            <a:avLst>
              <a:gd name="adj" fmla="val 18182"/>
            </a:avLst>
          </a:prstGeom>
          <a:solidFill>
            <a:srgbClr val="C8E6C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449884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443984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ready for IoT, mobile app, and cloud upgrades in the future.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Acknowledgements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676656"/>
            <a:ext cx="8503920" cy="18288"/>
          </a:xfrm>
          <a:prstGeom prst="rect">
            <a:avLst/>
          </a:prstGeom>
          <a:solidFill>
            <a:srgbClr val="A8BFCF"/>
          </a:solidFill>
          <a:ln w="12700">
            <a:solidFill>
              <a:srgbClr val="A8B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85039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References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Foundation. (2024). Python 3.x Documentation. https://docs.python.org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Arduino. (2024). Arduino Uno Reference &amp; PySerial Integration. https://www.arduino.cc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Osterberg, L. &amp; Blaschke, T. (2005). Adherence to Medication. New England Journal of Medicine, 353(5), 487–497.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Inc. (2024). Twilio Python SDK Documentation. https://www.twilio.com/docs/python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Consortium. (2024). SQLite Documentation. https://www.sqlite.org/docs.html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999232"/>
            <a:ext cx="4160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30723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Guide &amp; Mentors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331927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sincerely thank our project guide Dr. P. Vijayaragavan and Dr. Aruna for their continuous guidance, valuable feedback, and expert mentorship throughout this project.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999232"/>
            <a:ext cx="4160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28032" y="30723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Institutional Support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331927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gratefully acknowledge Saveetha School of Engineering, SIMATS for providing the infrastructure, technical resources, and encouraging environment to complete this capstone project.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2098</Words>
  <Application>Microsoft Office PowerPoint</Application>
  <PresentationFormat>On-screen Show (16:9)</PresentationFormat>
  <Paragraphs>314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Python-Based Smart Medicine Reminder and Refill Alert System</dc:title>
  <dc:subject>PptxGenJS Presentation</dc:subject>
  <dc:creator>PptxGenJS</dc:creator>
  <cp:lastModifiedBy>hemasree dev</cp:lastModifiedBy>
  <cp:revision>2</cp:revision>
  <dcterms:created xsi:type="dcterms:W3CDTF">2026-06-24T06:16:06Z</dcterms:created>
  <dcterms:modified xsi:type="dcterms:W3CDTF">2026-06-24T09:55:55Z</dcterms:modified>
</cp:coreProperties>
</file>